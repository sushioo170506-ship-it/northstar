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234440"/>
            <a:ext cx="4023360" cy="4023360"/>
          </a:xfrm>
          <a:prstGeom prst="ellipse">
            <a:avLst/>
          </a:prstGeom>
          <a:noFill/>
          <a:ln>
            <a:solidFill>
              <a:srgbClr val="46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D6C8"/>
                </a:solidFill>
              </a:defRPr>
            </a:pPr>
            <a:r>
              <a:t>STRATEGY · TECHNOLOGY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8961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4F8FC"/>
                </a:solidFill>
              </a:defRPr>
            </a:pPr>
            <a:r>
              <a:t>GPT‑Live应用探索研究报告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AB2C8"/>
                </a:solidFill>
              </a:defRPr>
            </a:pPr>
            <a:r>
              <a:t>全双工交互架构、能力边界、竞品格局与场景落地路线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97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A7FF"/>
                </a:solidFill>
              </a:defRPr>
            </a:pPr>
            <a:r>
              <a:t>2026.07  ·  EVIDENCE-DRIVEN  ·  12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摘要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200">
                <a:solidFill>
                  <a:srgbClr val="F4F8FC"/>
                </a:solidFill>
              </a:defRPr>
            </a:pPr>
            <a:r>
              <a:t>GPT‑Live的核心创新不是单纯“把语音识别做得更准”，而是把语音交互从轮流发言升级为持续、全双工协作：模型在输出语音时仍持续听取输入，并多次判断应该继续说、停顿、倾听、接受打断、简短回应或调用工具。第二个关键变化是把“交互控制”与“复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55A7FF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200">
                <a:solidFill>
                  <a:srgbClr val="F4F8FC"/>
                </a:solidFill>
              </a:defRPr>
            </a:pPr>
            <a:r>
              <a:t>这一架构使GPT‑Live同时改善了两类问题：一是语音层的停顿误判、抢话、打断和交流节奏；二是旧语音模型知识、搜索与推理上限低于前沿文本模型的问题。OpenAI厂商评测显示，GPT‑Live‑1在5–10分钟对话的人类偏好测试中被选择的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55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BE55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200">
                <a:solidFill>
                  <a:srgbClr val="F4F8FC"/>
                </a:solidFill>
              </a:defRPr>
            </a:pPr>
            <a:r>
              <a:t>GPT‑Live最有价值的市场不是所有电话或所有客服，而是需要“持续听、自然插话、后台查找或执行任务”的交互：复杂客服、事故报案、实时辅导、语言陪练、跨语言协作、无障碍助手和现场作业助手。低风险、流程稳定、可核验、容易转人工的场景应优先；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200">
                <a:solidFill>
                  <a:srgbClr val="F4F8FC"/>
                </a:solidFill>
              </a:defRPr>
            </a:pPr>
            <a:r>
              <a:t>短期落地存在一个决定性约束：GPT‑Live目前只在ChatGPT消费产品中逐步推出，API“计划稍后提供”，且Business、Enterprise、Edu工作区首发不可用。ChatGPT Voice帮助中心 (https://help.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一、产品定位与名称边界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不是传统ASR→LLM→TTS管线。 传统级联方式易在转写和合成间丢失语气、停顿等信息，并叠加多段时延。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55A7FF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200">
                <a:solidFill>
                  <a:srgbClr val="F4F8FC"/>
                </a:solidFill>
              </a:defRPr>
            </a:pPr>
            <a:r>
              <a:t>不是只减少延迟的Advanced Voice Mode升级。 Advanced Voice Mode已经使用单一音频模型，但仍以离散轮次运行；GPT‑Live进一步改为持续全双工处理。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55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BE55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不是GPT‑5.5的语音版。 GPT‑Live负责交互控制，复杂任务可委托GPT‑5.5；其能力是系统组合结果。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200">
                <a:solidFill>
                  <a:srgbClr val="F4F8FC"/>
                </a:solidFill>
              </a:defRPr>
            </a:pPr>
            <a:r>
              <a:t>不是当前可采购的企业API。 OpenAI仅表示计划开放API，未给出日期、价格、SLA或企业数据治理条款。OpenAI官方发布 (https://openai.com/index/introducing-gpt-live/)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二、架构与技术路线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用户音频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8768" y="148132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7276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9424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ASR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2249424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文本LLM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40864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17520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文本LLM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3017520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08960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TTS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3785616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输出音频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77056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53712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用户完整一轮音频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8768" y="4553712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单一音频模型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645152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2180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单一音频模型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8768" y="532180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完整一轮音频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41324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148132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持续输入音频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2328" y="148132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57276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 双向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2249424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82328" y="2249424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持续输入音频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40864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3017520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82328" y="3017520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持续输出音频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108960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 双向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3785616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持续输出音频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3785616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877056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4553712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持续输出音频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2328" y="4553712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搜索 / GPT-5.5推理 / Agent任务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645152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1928" y="532180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搜索 / GPT-5.5推理 / Agent任务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2328" y="5321808"/>
            <a:ext cx="2395728" cy="566928"/>
          </a:xfrm>
          <a:prstGeom prst="roundRect">
            <a:avLst/>
          </a:prstGeom>
          <a:solidFill>
            <a:srgbClr val="163451"/>
          </a:solidFill>
          <a:ln>
            <a:solidFill>
              <a:srgbClr val="55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8FC"/>
                </a:solidFill>
              </a:defRPr>
            </a:pPr>
            <a:r>
              <a:t>异步返回结果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41324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6D6C8"/>
                </a:solidFill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三、能力、边界与表现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10分钟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3.1 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75.7%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3.2 公开评测结果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69.2%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3.3 不同场景的已有证据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84.2%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3.1 能力矩阵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45.3%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3.2 公开评测结果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75.2%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3.3 不同场景的已有证据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四、竞品比较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128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4.1 国外竞品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70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4.2 国内竞品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120分钟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4.3 架构竞争的本质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40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4.1 国外竞品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2604.15804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4.2 国内竞品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6561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4.3 架构竞争的本质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五、风险与局限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幻觉被自然声音放大。 流畅、自信和情绪化的语音容易让用户高估答案真实性。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BE55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说话人归属与误触发。 背景对话、电视、多人会话可能被当作对模型的指令。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打断竞争。 太敏感会频繁停下，太迟钝会压制用户；网络往返和播放缓冲也是打断时延的一部分。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委托链不透明。 用户难以判断当前答案来自GPT‑Live、GPT‑5.5、搜索还是工具，审计需额外记录。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BE55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上下文漂移。 长会话中摘要、记忆与任务状态可能不一致，尤其是中断和并发工具返回时。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语言不均衡。 OpenAI承认部分语言有非母语口音或流利度缺口；中文方言和专业术语必须专项评测。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六、市场需求与应用场景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85%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6.1 需求信号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11%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6.2 场景优先级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5%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6.3 最值得验证的三个产品原型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2024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6.1 需求信号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12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6.2 场景优先级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85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6.3 最值得验证的三个产品原型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七、落地路线与决策建议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从1–2个边界清晰、低损失、可人工兜底的流程选取真实通话样本。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55A7FF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建立与厂商无关的Realtime Adapter，统一音频事件、VAD、打断、工具、转写和审计协议。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55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BE55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用已开放的OpenAI Realtime、Gemini Live、Qwen‑Omni Realtime和豆包做同口径对比。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禁止只用厂商demo评分；至少覆盖中文普通话、目标方言、8kHz电话、弱网、多人和噪声。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55A7FF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先做“辅助/收集/查询”，后做不可逆动作；所有写操作二次确认。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55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FFBE55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中文与目标方言任务成功率不低于现网；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附录A：建议的生产评测集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10243C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46D6C8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F4F8FC"/>
                </a:solidFill>
              </a:defRPr>
            </a:pPr>
            <a:r>
              <a:t>暂无可展示内容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附录B：主要参考资料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20001274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10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11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2604.15804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12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6561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6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6D6C8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4F8FC"/>
                </a:solidFill>
              </a:defRPr>
            </a:pPr>
            <a:r>
              <a:t>全量关联链接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20001274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10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11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2604.15804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12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10243C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46D6C8"/>
                </a:solidFill>
              </a:defRPr>
            </a:pPr>
            <a:r>
              <a:t>13</a:t>
            </a:r>
          </a:p>
          <a:p>
            <a:pPr>
              <a:spcBef>
                <a:spcPts val="800"/>
              </a:spcBef>
              <a:defRPr sz="1200">
                <a:solidFill>
                  <a:srgbClr val="9AB2C8"/>
                </a:solidFill>
              </a:defRPr>
            </a:pPr>
            <a:r>
              <a:t>关键证据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AB2C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